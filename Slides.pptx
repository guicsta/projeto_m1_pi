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8965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APRESENTADOR: Guilherme Cassetari (abre a apresentação, ~1 min)
Boa tarde/noite! Somos Guilherme Cassetari, Guilherme Pires e Vinícius Lohn, e vamos apresentar o projeto M1 da disciplina de Processamento de Imagens: identificação automática do naipe de cartas de baralho. Em 10 minutos vamos mostrar o problema, o pipeline que construímos, trechos do código e os resultados preliminares.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APRESENTADOR: Guilherme Cassetari (~1 min)
O problema: a partir de uma foto de carta, identificar o naipe — copas, ouros, paus ou espadas — usando cor e forma do símbolo. Nesta etapa (M1) não reconhecemos o valor da carta, só o naipe. O contexto de aplicação é automação de jogos: uma câmera fixa sobre a mesa que reconhece as cartas conforme são reveladas.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APRESENTADOR: Guilherme Cassetari (~1 min)
O pipeline tem quatro etapas, cada uma em um módulo Python separado: pré-processamento converte a imagem para tons de cinza e binariza com o método de Otsu implementado manualmente; segmentação encontra e recorta o símbolo e detecta a cor dominante; extração de forma calcula descritores geométricos; e classificação aplica regras simples sobre cor e forma para decidir o naipe. Tudo isso é validado por 9 testes automatizados. Agora o Guilherme Pires vai mostrar o código de cada etapa.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APRESENTADOR: Guilherme Pires (~1 min)
Aqui está o pré-processamento. to_grayscale converte a imagem para tons de cinza usando a fórmula de luminância ponderada (0.299R + 0.587G + 0.114B). Depois, binarize separa símbolo de fundo usando um limiar — que por padrão vem do método de Otsu, implementado manualmente por nós: ele testa todos os 256 níveis e escolhe o que maximiza a variância entre as classes de pixel escuro e claro, sem precisar de um valor fixo cravado no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APRESENTADOR: Guilherme Pires (~1 min)
Na segmentação, bounding_box encontra a região ocupada pelo símbolo na máscara binarizada, e crop_symbol recorta essa região com uma margem de segurança. Em seguida, dominant_color decide se o símbolo é vermelho ou preto comparando a média do canal R com a média de G e B nos pixels do símbolo. Já sabemos que, com fotos reais, pode aparecer mais de um símbolo visível — por exemplo, dois cantos da carta — e isso é um ajuste previsto para a próxima etapa.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APRESENTADOR: Guilherme Pires (~1 min)
Com o símbolo recortado, extraímos três descritores de forma manualmente. fill_ratio mede quanto da caixa delimitadora está preenchido. vertical_symmetry compara a metade de cima com a metade de baixo espelhada — copas e ouros são bem simétricos, enquanto paus e espadas têm uma haste que quebra a simetria. E width_profile_ratio compara a largura média no topo e na base: o losango de ouros é mais largo no meio, copas é mais largo no topo. Esses três números alimentam a regra de classificação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APRESENTADOR: Vinícius Lohn (~1 min)
classify_suit encadeia tudo: carrega a imagem, binariza, segmenta, extrai cor e forma, e aplica a regra final. Se a cor é vermelha, comparamos a simetria vertical com 0.75 para separar ouros de copas. Se é preta, comparamos o perfil de largura com 0.9 para separar paus de espadas. É uma árvore de decisão simples e totalmente explicável — sem caixa-preta. Esses limiares foram calibrados nas imagens sintéticas e sabemos que vão precisar de ajuste com fotos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APRESENTADOR: Vinícius Lohn (~1 min)
Os resultados: 100% de acerto, 20 de 20 imagens sintéticas, 5 por naipe, e os 9 testes automatizados de pytest passando. Mas é importante interpretar esse número com cuidado: ele confirma que o pipeline funciona ponta a ponta e que a lógica é consistente com os descritores que escolhemos — não é uma medida de desempenho final, porque as imagens sintéticas são muito mais limpas que fotos reais, sem sombra, reflexo do verniz ou variação de iluminação. A validação de verdade vai acontecer com as fotos do baralho físico.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APRESENTADOR: Vinícius Lohn (~1 min)
Sabemos exatamente onde estão os riscos: fotos reais vão trazer sombra, reflexo do verniz da carta e variação de ângulo que as sintéticas não têm; o símbolo do naipe numa carta real fica no canto, pequeno, não centralizado; e os limiares fixos que calibramos podem precisar dar lugar a template matching ou a um classificador leve como k-NN. Já temos escopo, pipeline e testes prontos — os próximos passos são fotografar o baralho físico do grupo, recalibrar com essas fotos e gravar o vídeo da M1.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TODOS: encerramento (~30s)
Esse é o estado atual do nosso projeto de identificação de naipes. Ficamos à disposição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2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10607040" y="4572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8E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7000" dirty="0"/>
          </a:p>
        </p:txBody>
      </p:sp>
      <p:sp>
        <p:nvSpPr>
          <p:cNvPr id="4" name="Text 2"/>
          <p:cNvSpPr txBox="1"/>
          <p:nvPr/>
        </p:nvSpPr>
        <p:spPr>
          <a:xfrm>
            <a:off x="10836067" y="5041826"/>
            <a:ext cx="647230" cy="1565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0" b="1" dirty="0">
                <a:solidFill>
                  <a:srgbClr val="8E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45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52120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0" b="1" dirty="0">
                <a:solidFill>
                  <a:srgbClr val="2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♣</a:t>
            </a:r>
            <a:endParaRPr lang="en-US" sz="6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554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DE IMAGENS · 2026-02 · PROJETO M1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965960"/>
            <a:ext cx="10332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Identificação de Naipe em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Cartas de Baralho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7033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pipeline clássico de visão computacional — sem aprendizado de máquina — que combina cor e forma para reconhecer copas, ouros, paus e espadas.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4709160"/>
            <a:ext cx="4937760" cy="0"/>
          </a:xfrm>
          <a:prstGeom prst="line">
            <a:avLst/>
          </a:prstGeom>
          <a:noFill/>
          <a:ln w="12700">
            <a:solidFill>
              <a:srgbClr val="3A3A5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914400" y="4846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F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519379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1115568" y="5120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Cassettari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5577840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1115568" y="55046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Pires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400" y="5961888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1115568" y="588873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Vinícius Lohn Ramires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5989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187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572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Dada a foto de uma carta, identificar automaticamente o naipe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informação do naipe está codificada visualmente em dois atributos combinados: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669280" cy="822960"/>
          </a:xfrm>
          <a:prstGeom prst="roundRect">
            <a:avLst>
              <a:gd name="adj" fmla="val 8889"/>
            </a:avLst>
          </a:prstGeom>
          <a:solidFill>
            <a:srgbClr val="F7F5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31520" y="2542032"/>
            <a:ext cx="320040" cy="320040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731520" y="25420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377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 do símbolo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68833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vermelho para copas/ouros, preto para paus/espadas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669280" cy="822960"/>
          </a:xfrm>
          <a:prstGeom prst="roundRect">
            <a:avLst>
              <a:gd name="adj" fmla="val 8889"/>
            </a:avLst>
          </a:prstGeom>
          <a:solidFill>
            <a:srgbClr val="F7F5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731520" y="3502152"/>
            <a:ext cx="320040" cy="320040"/>
          </a:xfrm>
          <a:prstGeom prst="ellipse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731520" y="3502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3375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do símbolo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64845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coração, losango, trevo ou pique — separa os dois naipes de cada cor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5669280" cy="1600200"/>
          </a:xfrm>
          <a:prstGeom prst="roundRect">
            <a:avLst>
              <a:gd name="adj" fmla="val 4571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822960" y="4526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desta etapa (M1)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864608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Entrada: </a:t>
            </a:r>
            <a:r>
              <a:rPr lang="en-US" sz="1250" dirty="0">
                <a:solidFill>
                  <a:srgbClr val="D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de uma carta, câmera fixa, carta centralizada
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Saída: </a:t>
            </a:r>
            <a:r>
              <a:rPr lang="en-US" sz="1250" dirty="0">
                <a:solidFill>
                  <a:srgbClr val="D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rótulo em {copas, ouros, paus, espadas}
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do escopo: </a:t>
            </a:r>
            <a:r>
              <a:rPr lang="en-US" sz="1250" dirty="0">
                <a:solidFill>
                  <a:srgbClr val="D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o valor da carta (A–K)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37960" y="1600200"/>
            <a:ext cx="5074920" cy="4343400"/>
          </a:xfrm>
          <a:prstGeom prst="roundRect">
            <a:avLst>
              <a:gd name="adj" fmla="val 2105"/>
            </a:avLst>
          </a:prstGeom>
          <a:solidFill>
            <a:srgbClr val="FBEA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685800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E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 aplicação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22402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de jogos de cartas: uma câmera fixa acima da mesa identifica cada carta assim que é revelada.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858000" y="3255264"/>
            <a:ext cx="128016" cy="12801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 txBox="1"/>
          <p:nvPr/>
        </p:nvSpPr>
        <p:spPr>
          <a:xfrm>
            <a:off x="7178040" y="3200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 mesa digital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0" y="3822192"/>
            <a:ext cx="128016" cy="12801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 txBox="1"/>
          <p:nvPr/>
        </p:nvSpPr>
        <p:spPr>
          <a:xfrm>
            <a:off x="7178040" y="37673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 organizador de cartas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58000" y="4389120"/>
            <a:ext cx="128016" cy="12801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 txBox="1"/>
          <p:nvPr/>
        </p:nvSpPr>
        <p:spPr>
          <a:xfrm>
            <a:off x="7178040" y="43342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que lê cartas em voz alta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0" y="507492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E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só o naipe primeiro valida a segmentação e a forma antes de acoplar o reconhecimento do valor (mais classes, símbolos mais variados).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Naipe em Cartas de Baralho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187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geral do pipeline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PDI clássico — sem aprendizado de máquina, cada etapa é explicável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2487168" cy="3246120"/>
          </a:xfrm>
          <a:prstGeom prst="roundRect">
            <a:avLst>
              <a:gd name="adj" fmla="val 3676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749808" y="2194560"/>
            <a:ext cx="502920" cy="502920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749808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88036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3566160"/>
            <a:ext cx="2084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→ cinza → binarização (Otsu manual)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475488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preprocessing.py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035808" y="33147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291840" y="1965960"/>
            <a:ext cx="2487168" cy="3246120"/>
          </a:xfrm>
          <a:prstGeom prst="roundRect">
            <a:avLst>
              <a:gd name="adj" fmla="val 3676"/>
            </a:avLst>
          </a:prstGeom>
          <a:solidFill>
            <a:srgbClr val="2A2A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3493008" y="2194560"/>
            <a:ext cx="502920" cy="502920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3493008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493008" y="288036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493008" y="3566160"/>
            <a:ext cx="2084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box, recorte, cor dominante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493008" y="475488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segmentation.py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779008" y="33147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035040" y="1965960"/>
            <a:ext cx="2487168" cy="3246120"/>
          </a:xfrm>
          <a:prstGeom prst="roundRect">
            <a:avLst>
              <a:gd name="adj" fmla="val 3676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6236208" y="2194560"/>
            <a:ext cx="502920" cy="502920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6236208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236208" y="288036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de forma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236208" y="3566160"/>
            <a:ext cx="2084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simetria vertical, perfil de largura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236208" y="475488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features.py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8522208" y="33147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8778240" y="1965960"/>
            <a:ext cx="2487168" cy="3246120"/>
          </a:xfrm>
          <a:prstGeom prst="roundRect">
            <a:avLst>
              <a:gd name="adj" fmla="val 3676"/>
            </a:avLst>
          </a:prstGeom>
          <a:solidFill>
            <a:srgbClr val="2A2A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8979408" y="2194560"/>
            <a:ext cx="502920" cy="502920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 txBox="1"/>
          <p:nvPr/>
        </p:nvSpPr>
        <p:spPr>
          <a:xfrm>
            <a:off x="8979408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8979408" y="288036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979408" y="3566160"/>
            <a:ext cx="2084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sobre cor + forma → naipe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979408" y="475488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classify.py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486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Entrada: </a:t>
            </a:r>
            <a:r>
              <a:rPr lang="en-US" sz="13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RGB de uma carta      </a:t>
            </a: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Saída: </a:t>
            </a:r>
            <a:r>
              <a:rPr lang="en-US" sz="13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naipe ∈ {copas, ouros, paus, espadas}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E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tem responsabilidade única e é testável isoladamente — 9/9 testes automatizados (pytest) passando.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Naipe em Cartas de Baralho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187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 1 · Pré-processamento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preprocessing.py — RGB → cinza → binarização por Otsu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675120" cy="4572000"/>
          </a:xfrm>
          <a:prstGeom prst="roundRect">
            <a:avLst>
              <a:gd name="adj" fmla="val 2400"/>
            </a:avLst>
          </a:prstGeom>
          <a:solidFill>
            <a:srgbClr val="16161F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749808" y="1719072"/>
            <a:ext cx="118872" cy="118872"/>
          </a:xfrm>
          <a:prstGeom prst="ellipse">
            <a:avLst/>
          </a:prstGeom>
          <a:solidFill>
            <a:srgbClr val="E869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969264" y="1719072"/>
            <a:ext cx="118872" cy="118872"/>
          </a:xfrm>
          <a:prstGeom prst="ellipse">
            <a:avLst/>
          </a:prstGeom>
          <a:solidFill>
            <a:srgbClr val="E8C1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188720" y="1719072"/>
            <a:ext cx="118872" cy="118872"/>
          </a:xfrm>
          <a:prstGeom prst="ellipse">
            <a:avLst/>
          </a:prstGeom>
          <a:solidFill>
            <a:srgbClr val="6FC1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804672" y="1938528"/>
            <a:ext cx="616305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to_grayscale</a:t>
            </a: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(rgb_array):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"""Conversão manual p/ escala de cinza (luminância)."""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rgb_array[:, :, 0].astype(np.float64)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 = rgb_array[:, :, 1].astype(np.float64)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 = rgb_array[:, :, 2].astype(np.float64)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gray = 0.299 * r + 0.587 * g + 0.114 * b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gray.astype(np.uint8)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binarize</a:t>
            </a: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(gray_array, threshold=</a:t>
            </a:r>
            <a:r>
              <a:rPr lang="en-US" sz="140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threshold is </a:t>
            </a:r>
            <a:r>
              <a:rPr lang="en-US" sz="140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threshold = _otsu_threshold(gray_array)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binary = (gray_array &lt;= threshold).astype(np.uint8) * 255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binary, threshold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452360" y="16002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Otsu manual?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196596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limiar de binarização é escolhido automaticamente, por imagem, maximizando a variância entre as classes símbolo/fundo — sem valor fixo cravado no código.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52360" y="3108960"/>
            <a:ext cx="4160520" cy="3017520"/>
          </a:xfrm>
          <a:prstGeom prst="roundRect">
            <a:avLst>
              <a:gd name="adj" fmla="val 2424"/>
            </a:avLst>
          </a:prstGeom>
          <a:solidFill>
            <a:srgbClr val="F7F5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7680960" y="329184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Lição aplicada dos labs individuais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365760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convertemos explicitamente para RGB antes de virar array — evita bugs de canal (RGB vs. BGR) que já pegaram o grupo antes.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0" y="4663440"/>
            <a:ext cx="3703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Símbolo (mais escuro) → 1
</a:t>
            </a:r>
            <a:r>
              <a:rPr lang="en-US" sz="1250" dirty="0">
                <a:solidFill>
                  <a:srgbClr val="6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Fundo (mais claro) → 0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Naipe em Cartas de Baralho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♣</a:t>
            </a:r>
            <a:endParaRPr lang="en-US" sz="187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 2 · Segmentação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segmentation.py — bounding box, recorte e cor dominante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675120" cy="4572000"/>
          </a:xfrm>
          <a:prstGeom prst="roundRect">
            <a:avLst>
              <a:gd name="adj" fmla="val 2400"/>
            </a:avLst>
          </a:prstGeom>
          <a:solidFill>
            <a:srgbClr val="16161F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749808" y="1719072"/>
            <a:ext cx="118872" cy="118872"/>
          </a:xfrm>
          <a:prstGeom prst="ellipse">
            <a:avLst/>
          </a:prstGeom>
          <a:solidFill>
            <a:srgbClr val="E869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969264" y="1719072"/>
            <a:ext cx="118872" cy="118872"/>
          </a:xfrm>
          <a:prstGeom prst="ellipse">
            <a:avLst/>
          </a:prstGeom>
          <a:solidFill>
            <a:srgbClr val="E8C1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188720" y="1719072"/>
            <a:ext cx="118872" cy="118872"/>
          </a:xfrm>
          <a:prstGeom prst="ellipse">
            <a:avLst/>
          </a:prstGeom>
          <a:solidFill>
            <a:srgbClr val="6FC1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804672" y="1938528"/>
            <a:ext cx="616305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bounding_box</a:t>
            </a: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(binary_array):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ys, xs = np.where(binary_array &gt; 0)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ys.min(), ys.max(), xs.min(), xs.max()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dominant_color</a:t>
            </a: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(rgb_array, mask):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symbol_pixels = rgb_array[mask &gt; 0]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mean_r = symbol_pixels[:, 0].mean()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mean_g = symbol_pixels[:, 1].mean()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mean_b = symbol_pixels[:, 2].mean()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i="1" dirty="0">
                <a:solidFill>
                  <a:srgbClr val="6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vermelho: canal R bem maior que G e B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mean_r - ((mean_g + mean_b) / 2) &gt; 15: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40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"vermelho"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"preto"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452360" y="16002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responsabilidades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52360" y="2011680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F7F5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7680960" y="2139696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E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está o símbolo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0" y="246888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bounding_box() localiza os pixels não-zero da máscara; crop_symbol() recorta RGB + máscara com margem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52360" y="3429000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F7F5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7680960" y="3557016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E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que cor é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680960" y="388620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o canal R médio com a média de G/B nos pixels do símbolo — diferença &gt; 15 já separa vermelho de preto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507492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já mapeado para fotos reais: mais de um símbolo visível (cantos) pode exigir agrupar regiões.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Naipe em Cartas de Baralho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187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 3 · Extração de forma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features.py — descritores geométricos calculados manualmente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675120" cy="4572000"/>
          </a:xfrm>
          <a:prstGeom prst="roundRect">
            <a:avLst>
              <a:gd name="adj" fmla="val 2400"/>
            </a:avLst>
          </a:prstGeom>
          <a:solidFill>
            <a:srgbClr val="16161F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749808" y="1719072"/>
            <a:ext cx="118872" cy="118872"/>
          </a:xfrm>
          <a:prstGeom prst="ellipse">
            <a:avLst/>
          </a:prstGeom>
          <a:solidFill>
            <a:srgbClr val="E869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969264" y="1719072"/>
            <a:ext cx="118872" cy="118872"/>
          </a:xfrm>
          <a:prstGeom prst="ellipse">
            <a:avLst/>
          </a:prstGeom>
          <a:solidFill>
            <a:srgbClr val="E8C1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188720" y="1719072"/>
            <a:ext cx="118872" cy="118872"/>
          </a:xfrm>
          <a:prstGeom prst="ellipse">
            <a:avLst/>
          </a:prstGeom>
          <a:solidFill>
            <a:srgbClr val="6FC1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804672" y="1938528"/>
            <a:ext cx="616305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vertical_symmetry</a:t>
            </a: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(mask):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"""1.0 = perfeitamente simétrico verticalmente."""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 = mask.shape[0]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top = mask[: h // 2, :]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bottom = np.flipud(mask[h - h // 2 :, :])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agreement = np.count_nonzero((top &gt; 0) == (bottom &gt; 0))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agreement / top.size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width_profile_ratio</a:t>
            </a: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(mask):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top_w = mean_width(mask[: h // 2, :])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bottom_w = mean_width(mask[h // 2 :, :])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top_w / bottom_w </a:t>
            </a:r>
            <a:r>
              <a:rPr lang="en-US" sz="140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bottom_w </a:t>
            </a:r>
            <a:r>
              <a:rPr lang="en-US" sz="140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0.0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452360" y="16002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descritores, base geométrica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52360" y="2048256"/>
            <a:ext cx="128016" cy="12801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7726680" y="195681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E1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fill_ratio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726680" y="2267712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do símbolo / área da caixa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52360" y="3008376"/>
            <a:ext cx="128016" cy="12801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7726680" y="291693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E1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vertical_symmetry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726680" y="3227832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 vs. base espelhada — ouros e copas são bem simétricos; paus/espadas têm haste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452360" y="3968496"/>
            <a:ext cx="128016" cy="12801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7726680" y="387705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E1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width_profile_ratio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726680" y="4187952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largura média no topo ÷ na base — ouros é losango; copas mais largo no topo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452360" y="507492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função pronta de "reconhecimento de forma" — tudo pixel a pixel, linha a linha.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Naipe em Cartas de Baralho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187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 4 · Classificação por regras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classify.py — combina cor + forma numa decisão explicável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675120" cy="2743200"/>
          </a:xfrm>
          <a:prstGeom prst="roundRect">
            <a:avLst>
              <a:gd name="adj" fmla="val 4000"/>
            </a:avLst>
          </a:prstGeom>
          <a:solidFill>
            <a:srgbClr val="16161F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749808" y="1719072"/>
            <a:ext cx="118872" cy="118872"/>
          </a:xfrm>
          <a:prstGeom prst="ellipse">
            <a:avLst/>
          </a:prstGeom>
          <a:solidFill>
            <a:srgbClr val="E869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969264" y="1719072"/>
            <a:ext cx="118872" cy="118872"/>
          </a:xfrm>
          <a:prstGeom prst="ellipse">
            <a:avLst/>
          </a:prstGeom>
          <a:solidFill>
            <a:srgbClr val="E8C1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188720" y="1719072"/>
            <a:ext cx="118872" cy="118872"/>
          </a:xfrm>
          <a:prstGeom prst="ellipse">
            <a:avLst/>
          </a:prstGeom>
          <a:solidFill>
            <a:srgbClr val="6FC1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804672" y="1938528"/>
            <a:ext cx="616305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3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classify_suit</a:t>
            </a:r>
            <a:r>
              <a:rPr lang="en-US" sz="13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(image_path):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rgb, binary = preprocessing.load_and_binarize(image_path)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crop, mask = segmentation.crop_symbol(rgb, binary)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 = segmentation.dominant_color(crop, mask)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sym = features.symmetry(mask)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wid = features.width_ratio(mask)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color == </a:t>
            </a:r>
            <a:r>
              <a:rPr lang="en-US" sz="13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"vermelho"</a:t>
            </a:r>
            <a:r>
              <a:rPr lang="en-US" sz="13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suit = </a:t>
            </a:r>
            <a:r>
              <a:rPr lang="en-US" sz="13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"ouros"</a:t>
            </a:r>
            <a:r>
              <a:rPr lang="en-US" sz="13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sym &gt; 0.75 </a:t>
            </a:r>
            <a:r>
              <a:rPr lang="en-US" sz="130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3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"copas"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3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suit = </a:t>
            </a:r>
            <a:r>
              <a:rPr lang="en-US" sz="13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"paus"</a:t>
            </a:r>
            <a:r>
              <a:rPr lang="en-US" sz="13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wid &lt; 0.9 </a:t>
            </a:r>
            <a:r>
              <a:rPr lang="en-US" sz="130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3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"espadas"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526280"/>
            <a:ext cx="6675120" cy="1600200"/>
          </a:xfrm>
          <a:prstGeom prst="roundRect">
            <a:avLst>
              <a:gd name="adj" fmla="val 4571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777240" y="46634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de decisão em uma linha por naipe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502920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FF9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vermelho</a:t>
            </a:r>
            <a:r>
              <a:rPr lang="en-US" sz="1250" dirty="0">
                <a:solidFill>
                  <a:srgbClr val="D8D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 simetria &gt; 0.75  →  </a:t>
            </a: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ouros</a:t>
            </a:r>
            <a:r>
              <a:rPr lang="en-US" sz="1250" dirty="0">
                <a:solidFill>
                  <a:srgbClr val="D8D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|   senão  →  </a:t>
            </a: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copas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9AB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preto</a:t>
            </a:r>
            <a:r>
              <a:rPr lang="en-US" sz="1250" dirty="0">
                <a:solidFill>
                  <a:srgbClr val="D8D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+  largura topo/base &lt; 0.9  →  </a:t>
            </a: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paus</a:t>
            </a:r>
            <a:r>
              <a:rPr lang="en-US" sz="1250" dirty="0">
                <a:solidFill>
                  <a:srgbClr val="D8D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|   senão  →  </a:t>
            </a: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espadas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452360" y="16002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regras, e não ML?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196596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Totalmente explicável, sem caixa-preta e sem dados de treinamento — compatível com o pipeline clássico exigido nesta etapa.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452360" y="2834640"/>
            <a:ext cx="4160520" cy="3291840"/>
          </a:xfrm>
          <a:prstGeom prst="roundRect">
            <a:avLst>
              <a:gd name="adj" fmla="val 2222"/>
            </a:avLst>
          </a:prstGeom>
          <a:solidFill>
            <a:srgbClr val="F7F5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7680960" y="30175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Limiares calibrados nas sintéticas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338328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 (simetria) e 0.9 (perfil de largura) foram calibrados com as imagens sintéticas de desenvolvimento — vão precisar de reajuste com fotos reais do baralho físico.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4434840"/>
            <a:ext cx="3703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 já mapeadas para a M2 caso as regras fixas não generalizem: template matching ou um classificador leve (k-NN).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Naipe em Cartas de Baralho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187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preliminares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005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com 20 imagens sintéticas de desenvolvimento (5 por naipe)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063240" cy="4434840"/>
          </a:xfrm>
          <a:prstGeom prst="roundRect">
            <a:avLst>
              <a:gd name="adj" fmla="val 2985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548640" y="21488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5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004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 acertos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66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imagens sintéticas de teste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4114800"/>
            <a:ext cx="2423160" cy="0"/>
          </a:xfrm>
          <a:prstGeom prst="line">
            <a:avLst/>
          </a:prstGeom>
          <a:noFill/>
          <a:ln w="12700">
            <a:solidFill>
              <a:srgbClr val="3A3A5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548640" y="42519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/ 9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8006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automatizados (pytest) passando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886200" y="160020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F7F5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3886200" y="16916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3886200" y="22402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886200" y="26060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Copas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760720" y="160020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F7F5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5760720" y="16916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5760720" y="22402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760720" y="26060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Ouros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635240" y="160020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F7F5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7635240" y="16916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♣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7635240" y="22402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635240" y="26060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509760" y="160020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F7F5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 txBox="1"/>
          <p:nvPr/>
        </p:nvSpPr>
        <p:spPr>
          <a:xfrm>
            <a:off x="9509760" y="16916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9509760" y="22402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509760" y="26060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Espadas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886200" y="3246120"/>
            <a:ext cx="7178040" cy="2788920"/>
          </a:xfrm>
          <a:prstGeom prst="roundRect">
            <a:avLst>
              <a:gd name="adj" fmla="val 3279"/>
            </a:avLst>
          </a:prstGeom>
          <a:solidFill>
            <a:srgbClr val="FBEA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 txBox="1"/>
          <p:nvPr/>
        </p:nvSpPr>
        <p:spPr>
          <a:xfrm>
            <a:off x="4160520" y="3429000"/>
            <a:ext cx="6629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interpretar esse número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160520" y="3886200"/>
            <a:ext cx="118872" cy="118872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 txBox="1"/>
          <p:nvPr/>
        </p:nvSpPr>
        <p:spPr>
          <a:xfrm>
            <a:off x="4434840" y="3767328"/>
            <a:ext cx="6355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que a lógica de decisão é internamente consistente com os descritores escolhidos — o pipeline funciona ponta a ponta.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160520" y="4572000"/>
            <a:ext cx="118872" cy="118872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 txBox="1"/>
          <p:nvPr/>
        </p:nvSpPr>
        <p:spPr>
          <a:xfrm>
            <a:off x="4434840" y="4453128"/>
            <a:ext cx="6355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deve ser lido como desempenho final: imagens sintéticas têm cor e forma limpas, sem sombra, reflexo ou variação de iluminação.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160520" y="5257800"/>
            <a:ext cx="118872" cy="118872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 txBox="1"/>
          <p:nvPr/>
        </p:nvSpPr>
        <p:spPr>
          <a:xfrm>
            <a:off x="4434840" y="5138928"/>
            <a:ext cx="6355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validação real acontece na próxima etapa, com fotos do baralho físico do grupo.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Naipe em Cartas de Baralho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♣</a:t>
            </a:r>
            <a:endParaRPr lang="en-US" sz="187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5720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próximos passos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 à M2: da imagem sintética para o baralho físico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822960" y="17830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já identificados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86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2585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Ruído das fotos reais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578608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sombra, reflexo no verniz e variação de ângulo não existem nas sintéticas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4930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6557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do símbolo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78561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fotos reais o naipe fica no canto, pequeno — não centralizado como nas sintéticas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7000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6725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Limiares fixos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992624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 e 0.9 podem não generalizar; regras podem precisar virar template matching ou k-NN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17830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para a M2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72200" y="219456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8FD69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6172200" y="2176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21396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do problema e escopo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72200" y="265176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8FD69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6172200" y="2633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25968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completo implementado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72200" y="310896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8FD69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 txBox="1"/>
          <p:nvPr/>
        </p:nvSpPr>
        <p:spPr>
          <a:xfrm>
            <a:off x="6172200" y="3090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30540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9/9 testes automatizados passando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172200" y="356616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8FD69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 txBox="1"/>
          <p:nvPr/>
        </p:nvSpPr>
        <p:spPr>
          <a:xfrm>
            <a:off x="6172200" y="3547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537960" y="35112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preliminar (sintéticas)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172200" y="4087368"/>
            <a:ext cx="507492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6172200" y="416052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C81E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 txBox="1"/>
          <p:nvPr/>
        </p:nvSpPr>
        <p:spPr>
          <a:xfrm>
            <a:off x="6537960" y="410565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E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Fotografar o baralho físico (13 cartas × 3–5 fotos)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172200" y="472744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C81E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 txBox="1"/>
          <p:nvPr/>
        </p:nvSpPr>
        <p:spPr>
          <a:xfrm>
            <a:off x="6537960" y="467258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E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Recalibrar limiares com fotos reais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172200" y="5294376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C81E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 txBox="1"/>
          <p:nvPr/>
        </p:nvSpPr>
        <p:spPr>
          <a:xfrm>
            <a:off x="6537960" y="523951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E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Gravar o vídeo da M1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Naipe em Cartas de Baralho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0" b="1" dirty="0">
                <a:solidFill>
                  <a:srgbClr val="8E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5500" dirty="0"/>
          </a:p>
        </p:txBody>
      </p:sp>
      <p:sp>
        <p:nvSpPr>
          <p:cNvPr id="3" name="Text 1"/>
          <p:cNvSpPr txBox="1"/>
          <p:nvPr/>
        </p:nvSpPr>
        <p:spPr>
          <a:xfrm>
            <a:off x="10698480" y="50292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0" b="1" dirty="0">
                <a:solidFill>
                  <a:srgbClr val="2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♣</a:t>
            </a:r>
            <a:endParaRPr lang="en-US" sz="65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48920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0" b="1" dirty="0">
                <a:solidFill>
                  <a:srgbClr val="2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55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48006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0" b="1" dirty="0">
                <a:solidFill>
                  <a:srgbClr val="8E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5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774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914400" y="3657600"/>
            <a:ext cx="4937760" cy="0"/>
          </a:xfrm>
          <a:prstGeom prst="line">
            <a:avLst/>
          </a:prstGeom>
          <a:noFill/>
          <a:ln w="12700">
            <a:solidFill>
              <a:srgbClr val="3A3A5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914400" y="3931920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1115568" y="38587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Cassettari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4315968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1115568" y="424281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Pires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4700016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1115568" y="462686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Vinícius Lohn Ramires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6035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Naipe em Cartas de Baralho — Processamento de Imagens 2026-02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2527</Words>
  <Application>Microsoft Office PowerPoint</Application>
  <PresentationFormat>Widescreen</PresentationFormat>
  <Paragraphs>236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Guilherme Cassettari</cp:lastModifiedBy>
  <cp:revision>3</cp:revision>
  <dcterms:created xsi:type="dcterms:W3CDTF">2026-09-01T00:03:37Z</dcterms:created>
  <dcterms:modified xsi:type="dcterms:W3CDTF">2026-09-01T00:24:44Z</dcterms:modified>
</cp:coreProperties>
</file>